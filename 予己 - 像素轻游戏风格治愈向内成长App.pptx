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要介绍的项目是"予己"——一款像素轻游戏风格的治愈向内成长App。我们的Slogan是"好好爱自己，慢慢成为自己"。在当下快节奏的生活中，我们希望通过这款产品，帮助年轻人看见、理解、接纳并成长自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分为六个部分：首先是项目概述，介绍我们为什么做这个产品；其次是技术架构，展示前后端技术选型；然后是产品功能，详细介绍四大核心场景；接着是创新亮点，说明我们的差异化优势；之后是团队与开发过程；最后是未来规划，包括商业模式和后续迭代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项目背景。当下18到30岁的年轻人面临学业和职场的双重压力，很多人有情绪内耗和高敏感的困扰，自我觉察与接纳的需求在持续增长。但市面上的成长类App大多是强打卡、强任务模式，这反而会给情绪敏感的用户增加心理压力。所以我们做了《予己》，用像素平行世界的养成玩法，低压力地陪伴用户探索和接纳自我。目标用户就是18到30岁、有情绪内耗、追求陪伴式成长的年轻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产品定位。《予己》是一款像素轻游戏风格的治愈向内成长App。核心是通过虚拟"小我"这个陪伴载体，让用户完成看见、理解、接纳、成长自我的全过程。我们把抽象的情绪觉察、自我照顾和成长行动，转化为可视化的房间场景、植物生长和星迹记忆，最终打造每个用户专属的个人内在操作系统。下方五个关键词拆解了我们的核心理念：虚拟小我、情绪觉察、自我照顾、成长行动、星迹记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前端技术栈我们选择了轻量无依赖的原生方案。框架用原生Vanilla JS配合IIFE模块化，UI层用HTML5加CSS3实现精细化像素风，字体选用Press Start 2P像素英文字体和站酷快乐体中文字体。同时支持PWA安装到手机桌面，BaaS层用supabase-js直接操作后端，自研State模块实现本地缓存加离线兜底，还有专门的像素图像处理方案解决家具去白底问题。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后端我们基于Supabase BaaS平台构建。身份认证用Supabase Auth的JWT方案，支持用户名映射虚拟邮箱和自动登录。数据库用PostgreSQL 15，所有表启用行级安全RLS，确保用户只能读写自己的数据。通过PL/pgSQL触发器实现注册用户自动同步。无服务器函数用Edge Functions封装AI调用和管理员接口。对象存储分四个公开读桶管理不同类型资源。AI集成支持可配置多Provider，兼容OpenAI接口。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管理后台是独立的静态页面，通过Supabase RLS的is_admin函数做权限鉴权。功能涵盖家具库管理、房间布局拖拽编辑、种子目录配置、农场地块调整、商店管理、AI参数配置和背景资源管理等九大模块。部署方面，前端托管在Vercel，后端用Supabase Cloud，数据库迁移用版本化SQL文件，Edge Functions通过CLI脚本部署，还有20多个Python脚本组成的像素资源流水线处理Sprite对齐、抠图等工作。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产品的整体架构由四大场景构成完整的内在成长闭环。第一个场景是"此刻·平行小屋"，对应看见自己，用户在这里经营日常、积累自我善待的小习惯。第二个是"遇见·内心森林"，对应认识自己，通过治愈观察帮用户更懂自己。第三个是"生长·生命花园"，对应成长自己，培育心知、解锁更多可能。第四个是"星迹·个人宇宙"，对应沉淀自己，回望成长轨迹。这四个场景不是孤立的，而是通过数据联动形成持续的成长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场景是"此刻·平行小屋"，这是用户的首页，也是看见自己的起点。这是一个2D像素小屋，搭载今日自我照顾轻表单。用户可以完成喝水、深呼吸等低压力的自我关照行为。小我的情绪记录会影响场景的动画氛围，让环境随心情变化。我们设计了幸福值和予己金币的温和数值体系，没有惩罚机制。还有像素物件交互，比如点击存钱罐可以跳转商店。最后，AI会根据用户的记录生成《个人说明书》，帮助用户持续更新自我认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场景是"遇见·内心森林"，对应认识自己。我们没有直接铺表单和长列表，而是做了一个2D像素迷雾森林，让用户在自然氛围中放松探索。这里有两个核心功能：第一个是"本心对语"，用户可以与屏幕中的自己对话，系统会不定时传信，通过真诚对话加深自我理解。第二个是"心灵树洞"，用户可以进行情绪深度记录，进入自我探索，AI会进行辅助引导，在安全的树洞中倾诉，获得温柔的回应与启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场景是"生长·生命花园"，对应成长自己。我们采用2.5D斜等轴测的种田场景，MVP阶段资源不足时可以先用2D斜排布模拟。核心设计是把成长目标对应为种子，用户每提升一个技能，就会为植物提供"养料"，让抽象的成长变得可视化。最重要的是我们的无惩罚机制：植物永不枯萎，长期搁置只会停止生长，不会进行任何惩罚。这样可以大大降低成长类产品可能带来的内卷感和焦虑，让用户在没有压力的状态下持续成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场景是"星迹·个人宇宙"，对应沉淀自己。我们没有用压抑的纯黑宇宙背景，而是采用低饱和的晨昏流动天空，营造温暖治愈的回忆空间。核心是星点记忆系统：沉淀来自首页、森林、花园和精神体验的重要事件，星点的亮度体现事件的重要程度，点击可以查看详情。还支持成长时间轴、成长档案和用户手动创建星点。最后，AI会汇总所有星点记录，持续更新《自我说明书》，让用户在回望成长轨迹中不断深化自我认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前三个创新点。第一是向内成长与轻游戏融合，把情绪觉察、自我照顾和成长行动与像素房间、森林、花园、星迹等游戏化场景结合，让抽象成长可视化，但避免竞技和任务压迫。第二是"小我"作为另一个自己的陪伴载体，它不是宠物也不是传统游戏角色，用户的情绪状态会影响小我的行为和环境氛围，形成记录-反馈-觉察的陪伴关系。第三是无惩罚的成长机制，数值不下降、植物不枯萎、无连续打卡、无排行榜，用户暂时停下也不会受到惩罚，大大降低内卷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和第五个创新点。第四是跨场景成长记忆闭环，房间、森林、花园和星迹不是独立的功能页面，而是通过摆件、记忆光点、星点和《自我说明书》进行数据与体验联动，形成持续积累的个人成长档案，让每个场景的行为都能在其他场景获得反馈。第五是关爱行为与虚拟犒劳结合，我们设计了予己金币和商店机制，金币只能通过自我关照行为获得，用于购买虚拟物件或精神体验，强调"善待自己之后，也可以犒劳自己"，形成正向激励循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由两人协作完成。UI设计成员负责全套UI交互界面设计，输出比赛宣传海报、易拉宝等视觉物料，同时撰写整理完整项目文档，梳理产品痛点、创新点和功能架构，完成参赛交付材料。开发成员承担前端页面搭建与后端服务开发，完成接口对接调试，实现产品核心业务功能，搭建可现场演示的项目Demo。开发过程从概念构思起步，完成从0到1的全流程落地，前后端多轮联调，设计侧同步调整，经过多轮打磨最终输出可演示的Demo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商业模式我们采用免费增值Freemium模式，保障所有用户可以完整体验自我记录、像素小人养成、四大场景等核心能力，基础功能永久免费，付费模块全部为增值服务。具体有四个方向：第一是Pro会员订阅，月付或年付，解锁AI深度报告、更多AI对话额度、专属像素装扮和无广告等高阶功能。第二是轻量内购，一次性购买像素家具、外观、主题包，只修改视觉不影响数值，支持买断全部外观。第三是激励广告，没有强制弹窗，用户主动观看换取AI额度和装饰碎片。第四是单次付费导出个人成长PDF档案，未来还计划拓展B端校园合作，面向高校心理社团提供校园版授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续迭代有两个方向。第一个是图片上传定制专属IP形象，用户上传照片，系统识别面部特征、发型和穿搭，转化为16bit像素画风的专属小人，可用于房间和花园场景，强化"每个人独一无二"的产品内核。商业化上Pro会员不限次数生成，普通用户有有限免费次数。第二个是IP实体化，支持3D打印，将2D像素角色自动转换为STL/3MF格式的3D模型文件，用户可以本地导出自行打印，也可以对接第三方代打印服务线上下单。这个能力作为Pro会员高阶权益，普通用户不开放3D导出，模型文件仅供个人非商用自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风险与约束。第一是隐私保护，用户上传的原始照片仅用于生成形象，服务器不永久存储原始人像素材。第二是模型校验，系统自动对3D模型做壁厚和水密性校验，保证适配主流FDM家用3D打印机，避免打印失败。第三是版权说明，生成的3D模型仅限用户个人自用，禁止商用二次售卖，规避知识产权风险。最后，感谢大家的聆听。在予己，遇见更好的自己。每一次关爱，都是在遇见更好的自己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5BA3D9">
                <a:alpha val="100000"/>
              </a:srgbClr>
            </a:gs>
            <a:gs pos="50000">
              <a:srgbClr val="8CC8E6">
                <a:alpha val="100000"/>
              </a:srgbClr>
            </a:gs>
            <a:gs pos="100000">
              <a:srgbClr val="FFF0C8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524000" cy="762000"/>
          </a:xfrm>
          <a:prstGeom prst="ellipse">
            <a:avLst/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270000" y="317500"/>
            <a:ext cx="1016000" cy="635000"/>
          </a:xfrm>
          <a:prstGeom prst="ellipse">
            <a:avLst/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906000" y="762000"/>
            <a:ext cx="1778000" cy="889000"/>
          </a:xfrm>
          <a:prstGeom prst="ellipse">
            <a:avLst/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414000" y="571500"/>
            <a:ext cx="1143000" cy="698500"/>
          </a:xfrm>
          <a:prstGeom prst="ellipse">
            <a:avLst/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270000"/>
            <a:ext cx="635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予己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2667000"/>
            <a:ext cx="609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你的内在成长之旅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556000"/>
            <a:ext cx="5334000" cy="635000"/>
          </a:xfrm>
          <a:prstGeom prst="roundRect">
            <a:avLst>
              <a:gd name="adj" fmla="val 50000"/>
            </a:avLst>
          </a:prstGeom>
          <a:solidFill>
            <a:srgbClr val="1E508C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06500" y="36195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一款像素轻游戏风格的治愈向内成长App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572000"/>
            <a:ext cx="571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2000" b="1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好好爱自己，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2000" b="1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慢慢成为自己。</a:t>
            </a:r>
            <a:endParaRPr lang="en-US" sz="2000" b="1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 l="20220" r="20220"/>
          <a:stretch>
            <a:fillRect/>
          </a:stretch>
        </p:blipFill>
        <p:spPr>
          <a:xfrm>
            <a:off x="7112000" y="1524000"/>
            <a:ext cx="4572000" cy="4318000"/>
          </a:xfrm>
          <a:prstGeom prst="roundRect">
            <a:avLst>
              <a:gd name="adj" fmla="val 4705"/>
            </a:avLst>
          </a:prstGeom>
          <a:noFill/>
          <a:ln w="50800" cap="flat" cmpd="sng">
            <a:solidFill>
              <a:srgbClr val="FFFFFF">
                <a:alpha val="60000"/>
              </a:srgbClr>
            </a:solidFill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6858000" y="5969000"/>
            <a:ext cx="381000" cy="381000"/>
          </a:xfrm>
          <a:prstGeom prst="ellipse">
            <a:avLst/>
          </a:prstGeom>
          <a:solidFill>
            <a:srgbClr val="FFD9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0" y="2540000"/>
            <a:ext cx="254000" cy="254000"/>
          </a:xfrm>
          <a:prstGeom prst="ellipse">
            <a:avLst/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" y="5715000"/>
            <a:ext cx="317500" cy="317500"/>
          </a:xfrm>
          <a:prstGeom prst="ellipse">
            <a:avLst/>
          </a:prstGeom>
          <a:solidFill>
            <a:srgbClr val="6BCB77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AF0">
                <a:alpha val="100000"/>
              </a:srgbClr>
            </a:gs>
            <a:gs pos="100000">
              <a:srgbClr val="FFF0C8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25500" y="1206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BA3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4554">
            <a:off x="762023" y="1708150"/>
            <a:ext cx="177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2159000"/>
            <a:ext cx="508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28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BA3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05000" y="2349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2730500"/>
            <a:ext cx="368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6E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 · 目标用户 · 产品定位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159000"/>
            <a:ext cx="508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6BCB7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04000" y="228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BCB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493000" y="2349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493000" y="2730500"/>
            <a:ext cx="368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6E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 · 后端 · 管理后台 · 部署运维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429000"/>
            <a:ext cx="508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FFD9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355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6B4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905000" y="3619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产品功能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905000" y="4000500"/>
            <a:ext cx="368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6E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四大场景 · 家 · 森林 · 花园 · 宇宙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3429000"/>
            <a:ext cx="508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04000" y="355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5BA3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93000" y="3619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创新亮点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493000" y="4000500"/>
            <a:ext cx="368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6E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五大创新 · 差异化竞争优势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699000"/>
            <a:ext cx="508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6BCB7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482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6BCB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905000" y="4889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团队与开发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905000" y="5270500"/>
            <a:ext cx="368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6E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分工协作 · 开发流程 · 项目成果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4699000"/>
            <a:ext cx="508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FFD9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04000" y="482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6B4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493000" y="4889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493000" y="5270500"/>
            <a:ext cx="3683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786E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商业模式 · IP定制 · 3D打印 · 风险约束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622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8C8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予己 · 你的内在成长之旅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C8E6">
                <a:alpha val="100000"/>
              </a:srgbClr>
            </a:gs>
            <a:gs pos="60000">
              <a:srgbClr val="C8E6F5">
                <a:alpha val="100000"/>
              </a:srgbClr>
            </a:gs>
            <a:gs pos="100000">
              <a:srgbClr val="FFFAF0">
                <a:alpha val="100000"/>
              </a:srgbClr>
            </a:gs>
          </a:gsLst>
          <a:lin ang="4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4445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项目背景与目标用户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1073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397000"/>
            <a:ext cx="5334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5BA3D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5000" y="1397000"/>
            <a:ext cx="5334000" cy="635000"/>
          </a:xfrm>
          <a:prstGeom prst="roundRect">
            <a:avLst>
              <a:gd name="adj" fmla="val 32000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14986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一、项目背景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286000"/>
            <a:ext cx="4699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当下18-30岁年轻人面临学业、职场压力，不少人存在情绪内耗、高敏感的问题，自我觉察与自我接纳的需求持续提升。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市面上多数成长类App偏向强打卡、强任务模式，会给情绪敏感的用户带来额外心理压力，缺少低压力、陪伴式的自我成长工具。</a:t>
            </a:r>
            <a:endParaRPr lang="en-US" sz="14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因此我们开发《予己》，借助像素平行世界的养成玩法，帮助用户探索自我、接纳自我，成长自我。</a:t>
            </a:r>
            <a:endParaRPr lang="en-US" sz="14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397000"/>
            <a:ext cx="5334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6BCB77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23000" y="1397000"/>
            <a:ext cx="5334000" cy="635000"/>
          </a:xfrm>
          <a:prstGeom prst="roundRect">
            <a:avLst>
              <a:gd name="adj" fmla="val 32000"/>
            </a:avLst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1498600"/>
            <a:ext cx="482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二、目标用户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40500" y="2286000"/>
            <a:ext cx="4699000" cy="698500"/>
          </a:xfrm>
          <a:prstGeom prst="roundRect">
            <a:avLst>
              <a:gd name="adj" fmla="val 18181"/>
            </a:avLst>
          </a:prstGeom>
          <a:solidFill>
            <a:srgbClr val="FFF0C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731000" y="2387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18-30岁年轻人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540500" y="32385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58000"/>
              </a:lnSpc>
              <a:buClr>
                <a:srgbClr val="3C3228"/>
              </a:buClr>
              <a:buChar char="•"/>
              <a:defRPr/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存在情绪内耗、高敏感问题</a:t>
            </a:r>
            <a:endParaRPr lang="en-US" sz="1100"/>
          </a:p>
          <a:p>
            <a:pPr marL="177800" indent="-177800" algn="l">
              <a:lnSpc>
                <a:spcPct val="158000"/>
              </a:lnSpc>
              <a:buClr>
                <a:srgbClr val="3C3228"/>
              </a:buClr>
              <a:buChar char="•"/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希望自我觉察与自我接纳</a:t>
            </a:r>
            <a:endParaRPr lang="en-US" sz="14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58000"/>
              </a:lnSpc>
              <a:buClr>
                <a:srgbClr val="3C3228"/>
              </a:buClr>
              <a:buChar char="•"/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追求低压力、沉浸式陪伴式自我成长</a:t>
            </a:r>
            <a:endParaRPr lang="en-US" sz="14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58000"/>
              </a:lnSpc>
              <a:buClr>
                <a:srgbClr val="3C3228"/>
              </a:buClr>
              <a:buChar char="•"/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厌倦强打卡、强任务的成长工具</a:t>
            </a:r>
            <a:endParaRPr lang="en-US" sz="14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58000"/>
              </a:lnSpc>
              <a:buClr>
                <a:srgbClr val="3C3228"/>
              </a:buClr>
              <a:buChar char="•"/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喜欢像素风格、治愈系游戏化体验</a:t>
            </a:r>
            <a:endParaRPr lang="en-US" sz="14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1176000" y="381000"/>
            <a:ext cx="635000" cy="635000"/>
          </a:xfrm>
          <a:prstGeom prst="ellipse">
            <a:avLst/>
          </a:prstGeom>
          <a:solidFill>
            <a:srgbClr val="FFD93D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1557000" y="6223000"/>
            <a:ext cx="381000" cy="381000"/>
          </a:xfrm>
          <a:prstGeom prst="ellipse">
            <a:avLst/>
          </a:prstGeom>
          <a:solidFill>
            <a:srgbClr val="6BCB7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5DC">
                <a:alpha val="100000"/>
              </a:srgbClr>
            </a:gs>
            <a:gs pos="50000">
              <a:srgbClr val="FFEBB4">
                <a:alpha val="100000"/>
              </a:srgbClr>
            </a:gs>
            <a:gs pos="100000">
              <a:srgbClr val="FFFA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FFD9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4445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产品定位与核心理念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6443">
            <a:off x="635024" y="10731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BA3D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397000"/>
            <a:ext cx="10922000" cy="1841500"/>
          </a:xfrm>
          <a:prstGeom prst="roundRect">
            <a:avLst>
              <a:gd name="adj" fmla="val 11034"/>
            </a:avLst>
          </a:prstGeom>
          <a:solidFill>
            <a:srgbClr val="1E508C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494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D9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一句话定位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1930400"/>
            <a:ext cx="1016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一款像素轻游戏风格的治愈向内成长App，通过虚拟"小我"，强调"每个人都是独一无二"的个体，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让用户看见、理解、接纳、成长自我；将情绪觉察、自我照顾、成长行动转化为可视化场景、植物、星迹记忆，打造用户专属个人内在操作系统。</a:t>
            </a:r>
            <a:endParaRPr lang="en-US" sz="16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" y="3429000"/>
            <a:ext cx="1092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核心理念拆解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4064000"/>
            <a:ext cx="2032000" cy="2349500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333500" y="4254500"/>
            <a:ext cx="635000" cy="635000"/>
          </a:xfrm>
          <a:prstGeom prst="ellipse">
            <a:avLst/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333500" y="43561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16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虚拟小我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3975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屏幕中的另一个自己，陪伴式成长载体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857500" y="4064000"/>
            <a:ext cx="2032000" cy="2349500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6BCB7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556000" y="4254500"/>
            <a:ext cx="635000" cy="635000"/>
          </a:xfrm>
          <a:prstGeom prst="ellipse">
            <a:avLst/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556000" y="43561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984500" y="5016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情绪觉察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984500" y="53975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记录与理解内在情绪，探索真实内心世界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80000" y="4064000"/>
            <a:ext cx="2032000" cy="2349500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FFD9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778500" y="4254500"/>
            <a:ext cx="635000" cy="635000"/>
          </a:xfrm>
          <a:prstGeom prst="ellipse">
            <a:avLst/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778500" y="43561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爱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207000" y="5016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自我照顾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168900" y="5397500"/>
            <a:ext cx="1854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低压力自我关照，不内卷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302500" y="4064000"/>
            <a:ext cx="2032000" cy="2349500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001000" y="4254500"/>
            <a:ext cx="635000" cy="635000"/>
          </a:xfrm>
          <a:prstGeom prst="ellipse">
            <a:avLst/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001000" y="43561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429500" y="5016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成长行动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429500" y="53975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技能提升化为植物养料，持续解锁可能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525000" y="4064000"/>
            <a:ext cx="2032000" cy="2349500"/>
          </a:xfrm>
          <a:prstGeom prst="roundRect">
            <a:avLst>
              <a:gd name="adj" fmla="val 750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6BCB7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10223500" y="4254500"/>
            <a:ext cx="635000" cy="635000"/>
          </a:xfrm>
          <a:prstGeom prst="ellipse">
            <a:avLst/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10223500" y="43561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忆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9652000" y="5016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星迹记忆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613900" y="5397500"/>
            <a:ext cx="1854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沉淀时刻，生成个人说明书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8E6F5">
                <a:alpha val="100000"/>
              </a:srgbClr>
            </a:gs>
            <a:gs pos="100000">
              <a:srgbClr val="FFFAF0">
                <a:alpha val="100000"/>
              </a:srgbClr>
            </a:gs>
          </a:gsLst>
          <a:lin ang="4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 · 前端技术栈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143000"/>
            <a:ext cx="1092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采用轻量无依赖的原生技术方案，精细化像素风UI，支持PWA安装与离线兜底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35000" y="1587500"/>
          <a:ext cx="10922000" cy="495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3175000"/>
                <a:gridCol w="6096000"/>
              </a:tblGrid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8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技术选型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8C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508C">
                        <a:alpha val="10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框架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原生 Vanilla JS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IIFE 模块化模式，轻量无依赖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UI 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原生 HTML5 + CSS3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精细化像素风 UI，CSS Sprite Sheet 动画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Press Start 2P + ZCOOL KuaiLe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像素风英文字体 + 中文快乐体，Google Fonts CDN 加载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PWA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Web App Manifest + Service Worker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可安装到手机桌面，竖屏锁定，预留离线能力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BaaS SDK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supabase-js v2.39.0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CDN UMD 引入，前端直接操作 PostgreSQL + Auth + Storage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状态管理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自研 State 模块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js/state.js，本地缓存 + 防抖同步 + 离线兜底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CSS 缓存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Query String 版本号机制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如 ?v=41，每次发布递增版本强制刷新浏览器缓存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5588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E508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像素图像处理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Canvas BFS Flood Fill + SVG Filter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四边去白底 + alpha 硬边二值化，解决家具半透明背景问题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C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CF0E1">
                <a:alpha val="100000"/>
              </a:srgbClr>
            </a:gs>
            <a:gs pos="100000">
              <a:srgbClr val="FFFAF0">
                <a:alpha val="100000"/>
              </a:srgbClr>
            </a:gs>
          </a:gsLst>
          <a:lin ang="4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 · 后端 Supabase 架构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143000"/>
            <a:ext cx="1092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Supabase BaaS 平台构建，PostgreSQL + Auth + Storage + Edge Functions 全栈能力，支持AI集成与行级安全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35000" y="1587500"/>
          <a:ext cx="10922000" cy="495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048000"/>
                <a:gridCol w="6350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组件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8C5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技术选型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8C5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C8C50">
                        <a:alpha val="100000"/>
                      </a:srgbClr>
                    </a:solidFill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C8C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身份认证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Supabase Auth (JWT)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用户名→虚拟邮箱映射，禁用邮箱验证，支持「记住我」自动登录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C8C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2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PostgreSQL 15 + RLS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2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所有表启用行级安全，普通用户只读公开数据、仅能读写自己的 user_state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2">
                        <a:alpha val="90000"/>
                      </a:srgbClr>
                    </a:solidFill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C8C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触发器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PL/pgSQL handle_new_user()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Auth 用户注册自动同步到 public.users 扩展表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C8C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无服务器函数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2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Supabase Edge Functions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2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Deno + TypeScript，封装 AI API 调用、管理员接口、星星挖掘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2">
                        <a:alpha val="90000"/>
                      </a:srgbClr>
                    </a:solidFill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C8C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对象存储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Supabase Storage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 个公开读桶：家具图、商店图、Tab 背景图、农场图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C8C5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 集成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2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可配置多 Provider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2">
                        <a:alpha val="9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C322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表 ai_config 配置，System Prompt + 动态上下文，兼容 OpenAI 兼容接口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8F2">
                        <a:alpha val="9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5DC">
                <a:alpha val="100000"/>
              </a:srgbClr>
            </a:gs>
            <a:gs pos="100000">
              <a:srgbClr val="FFFA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FFD9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管理后台与部署运维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BA3D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270000"/>
            <a:ext cx="5461000" cy="5334000"/>
          </a:xfrm>
          <a:prstGeom prst="roundRect">
            <a:avLst>
              <a:gd name="adj" fmla="val 3333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FFD9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5000" y="1270000"/>
            <a:ext cx="5461000" cy="571500"/>
          </a:xfrm>
          <a:prstGeom prst="roundRect">
            <a:avLst>
              <a:gd name="adj" fmla="val 31111"/>
            </a:avLst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13716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管理后台（yujiapp/admin/）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032000"/>
            <a:ext cx="4953000" cy="444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页面载体：</a:t>
            </a: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独立静态页面 admin/index.html + admin.js + admin.css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权限鉴权：</a:t>
            </a: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Supabase RLS is_admin() 函数，判断 role='admin'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家具库管理：</a:t>
            </a: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家具目录增删改查，维护尺寸、分类、价格、解锁条件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房间布局编辑：</a:t>
            </a: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拖拽编辑器，可视化设置新用户默认房间家具摆放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种子目录管理：</a:t>
            </a: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Tab2、Tab3 的技能种子参数配置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农场地块配置：</a:t>
            </a: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 格农场地块的坐标与布局调整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商店管理：</a:t>
            </a: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金币商店商品上下架、价格设定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参数配置：</a:t>
            </a: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服务商、密钥、System Prompt 等参数维护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背景资源管理：</a:t>
            </a: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上传、管理四个 Tab 页面的背景图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270000"/>
            <a:ext cx="5207000" cy="5334000"/>
          </a:xfrm>
          <a:prstGeom prst="roundRect">
            <a:avLst>
              <a:gd name="adj" fmla="val 3414"/>
            </a:avLst>
          </a:prstGeom>
          <a:solidFill>
            <a:srgbClr val="FFFFFF">
              <a:alpha val="85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0" y="1270000"/>
            <a:ext cx="5207000" cy="571500"/>
          </a:xfrm>
          <a:prstGeom prst="roundRect">
            <a:avLst>
              <a:gd name="adj" fmla="val 31111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04000" y="13716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部署与运维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0955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0F8FC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794500" y="21844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前端托管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94500" y="2476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Vercel 静态站点，Root Directory = yuji-app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30480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0F8FC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794500" y="31369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 BaaS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794500" y="3429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Supabase Cloud 项目：saxpmirsqlhokzuoiray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4000500"/>
            <a:ext cx="4699000" cy="825500"/>
          </a:xfrm>
          <a:prstGeom prst="roundRect">
            <a:avLst>
              <a:gd name="adj" fmla="val 15384"/>
            </a:avLst>
          </a:prstGeom>
          <a:solidFill>
            <a:srgbClr val="F0F8FC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794500" y="40894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数据库迁移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794500" y="4381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版本化 SQL 文件 001~005，手动在 SQL Editor 执行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0" y="4953000"/>
            <a:ext cx="4699000" cy="698500"/>
          </a:xfrm>
          <a:prstGeom prst="roundRect">
            <a:avLst>
              <a:gd name="adj" fmla="val 18181"/>
            </a:avLst>
          </a:prstGeom>
          <a:solidFill>
            <a:srgbClr val="F0F8FC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794500" y="50419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Edge Functions 部署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794500" y="53086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Supabase CLI + deploy.ps1 脚本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04000" y="5778500"/>
            <a:ext cx="4699000" cy="698500"/>
          </a:xfrm>
          <a:prstGeom prst="roundRect">
            <a:avLst>
              <a:gd name="adj" fmla="val 18181"/>
            </a:avLst>
          </a:prstGeom>
          <a:solidFill>
            <a:srgbClr val="F0F8FC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794500" y="58674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像素资源流水线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794500" y="61341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tools/ 下 20+ Python 脚本（Pillow）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C8E6">
                <a:alpha val="100000"/>
              </a:srgbClr>
            </a:gs>
            <a:gs pos="50000">
              <a:srgbClr val="C8E6F5">
                <a:alpha val="100000"/>
              </a:srgbClr>
            </a:gs>
            <a:gs pos="100000">
              <a:srgbClr val="FFFAF0">
                <a:alpha val="100000"/>
              </a:srgbClr>
            </a:gs>
          </a:gsLst>
          <a:lin ang="4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产品功能 · 整体架构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143000"/>
            <a:ext cx="1092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四大场景构成完整的内在成长闭环，从看见自己到沉淀自己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781" r="781"/>
          <a:stretch>
            <a:fillRect/>
          </a:stretch>
        </p:blipFill>
        <p:spPr>
          <a:xfrm>
            <a:off x="635000" y="1587500"/>
            <a:ext cx="5334000" cy="3048000"/>
          </a:xfrm>
          <a:prstGeom prst="roundRect">
            <a:avLst>
              <a:gd name="adj" fmla="val 5000"/>
            </a:avLst>
          </a:prstGeom>
          <a:noFill/>
          <a:ln w="38100" cap="flat" cmpd="sng">
            <a:solidFill>
              <a:srgbClr val="FFFFFF">
                <a:alpha val="6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350000" y="1587500"/>
            <a:ext cx="5207000" cy="698500"/>
          </a:xfrm>
          <a:prstGeom prst="roundRect">
            <a:avLst>
              <a:gd name="adj" fmla="val 21818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540500" y="1714500"/>
            <a:ext cx="444500" cy="444500"/>
          </a:xfrm>
          <a:prstGeom prst="ellipse">
            <a:avLst/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540500" y="1778000"/>
            <a:ext cx="444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0" y="16764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此刻 · 平行小屋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112000" y="19685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看见自己 · 经营日常，积累每一个自我善待的小习惯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413000"/>
            <a:ext cx="5207000" cy="698500"/>
          </a:xfrm>
          <a:prstGeom prst="roundRect">
            <a:avLst>
              <a:gd name="adj" fmla="val 21818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6BCB7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40500" y="2540000"/>
            <a:ext cx="444500" cy="444500"/>
          </a:xfrm>
          <a:prstGeom prst="ellipse">
            <a:avLst/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40500" y="2603500"/>
            <a:ext cx="444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0" y="25019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遇见 · 内心森林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112000" y="27940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认识自己 · 治愈观察，帮你更懂自己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238500"/>
            <a:ext cx="5207000" cy="698500"/>
          </a:xfrm>
          <a:prstGeom prst="roundRect">
            <a:avLst>
              <a:gd name="adj" fmla="val 21818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FFD9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40500" y="3365500"/>
            <a:ext cx="444500" cy="444500"/>
          </a:xfrm>
          <a:prstGeom prst="ellipse">
            <a:avLst/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540500" y="3429000"/>
            <a:ext cx="444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0" y="33274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生长 · 生命花园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36195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成长自己 · 培育心知，解锁自我更多可能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064000"/>
            <a:ext cx="5207000" cy="698500"/>
          </a:xfrm>
          <a:prstGeom prst="roundRect">
            <a:avLst>
              <a:gd name="adj" fmla="val 21818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9678C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40500" y="4191000"/>
            <a:ext cx="444500" cy="444500"/>
          </a:xfrm>
          <a:prstGeom prst="ellipse">
            <a:avLst/>
          </a:prstGeom>
          <a:solidFill>
            <a:srgbClr val="785A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40500" y="4254500"/>
            <a:ext cx="444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0" y="41529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A3C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星迹 · 个人宇宙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12000" y="44450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沉淀自己 · 回望成长轨迹，探索内在自我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" y="4826000"/>
            <a:ext cx="10922000" cy="1778000"/>
          </a:xfrm>
          <a:prstGeom prst="roundRect">
            <a:avLst>
              <a:gd name="adj" fmla="val 10000"/>
            </a:avLst>
          </a:prstGeom>
          <a:solidFill>
            <a:srgbClr val="1E508C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1016000" y="5016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D9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成长闭环逻辑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16000" y="5461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看见自己 → 认识自己 → 成长自己 → 沉淀自己</a:t>
            </a:r>
            <a:endParaRPr lang="en-US" sz="1100"/>
          </a:p>
          <a:p>
            <a:pPr marL="0" indent="0" algn="ctr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四大场景不是独立功能页面，而是通过摆件、记忆光点、星点和《自我说明书》形成数据与体验联动的持续成长闭环</a:t>
            </a:r>
            <a:endParaRPr lang="en-US" sz="15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8E6F5">
                <a:alpha val="100000"/>
              </a:srgbClr>
            </a:gs>
            <a:gs pos="100000">
              <a:srgbClr val="FFFAF0">
                <a:alpha val="100000"/>
              </a:srgbClr>
            </a:gs>
          </a:gsLst>
          <a:lin ang="4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Tap1 此刻 · 平行小屋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143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看见自己 · 经营日常，积累每一个自我善待的小习惯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18914" r="18914"/>
          <a:stretch>
            <a:fillRect/>
          </a:stretch>
        </p:blipFill>
        <p:spPr>
          <a:xfrm>
            <a:off x="635000" y="1587500"/>
            <a:ext cx="5334000" cy="4826000"/>
          </a:xfrm>
          <a:prstGeom prst="roundRect">
            <a:avLst>
              <a:gd name="adj" fmla="val 3684"/>
            </a:avLst>
          </a:prstGeom>
          <a:noFill/>
          <a:ln w="38100" cap="flat" cmpd="sng">
            <a:solidFill>
              <a:srgbClr val="FFFFFF">
                <a:alpha val="6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350000" y="1587500"/>
            <a:ext cx="5207000" cy="762000"/>
          </a:xfrm>
          <a:prstGeom prst="roundRect">
            <a:avLst>
              <a:gd name="adj" fmla="val 20000"/>
            </a:avLst>
          </a:prstGeom>
          <a:solidFill>
            <a:srgbClr val="5BA3D9">
              <a:alpha val="15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540500" y="1752600"/>
            <a:ext cx="406400" cy="406400"/>
          </a:xfrm>
          <a:prstGeom prst="ellipse">
            <a:avLst/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540500" y="1816100"/>
            <a:ext cx="406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086600" y="16764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2D 像素小屋首页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086600" y="19685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4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搭载今日自我照顾轻表单，低压力交互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476500"/>
            <a:ext cx="5207000" cy="762000"/>
          </a:xfrm>
          <a:prstGeom prst="roundRect">
            <a:avLst>
              <a:gd name="adj" fmla="val 20000"/>
            </a:avLst>
          </a:prstGeom>
          <a:solidFill>
            <a:srgbClr val="6BCB77">
              <a:alpha val="15000"/>
            </a:srgbClr>
          </a:solidFill>
          <a:ln w="25400" cap="flat" cmpd="sng">
            <a:solidFill>
              <a:srgbClr val="6BCB7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40500" y="2641600"/>
            <a:ext cx="406400" cy="406400"/>
          </a:xfrm>
          <a:prstGeom prst="ellipse">
            <a:avLst/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540500" y="2705100"/>
            <a:ext cx="406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086600" y="25654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自我关照轻行为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086600" y="28575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4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完成喝水、深呼吸等低压力自我关照行为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365500"/>
            <a:ext cx="5207000" cy="762000"/>
          </a:xfrm>
          <a:prstGeom prst="roundRect">
            <a:avLst>
              <a:gd name="adj" fmla="val 20000"/>
            </a:avLst>
          </a:prstGeom>
          <a:solidFill>
            <a:srgbClr val="FFD93D">
              <a:alpha val="20000"/>
            </a:srgbClr>
          </a:solidFill>
          <a:ln w="25400" cap="flat" cmpd="sng">
            <a:solidFill>
              <a:srgbClr val="FFD9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40500" y="3530600"/>
            <a:ext cx="406400" cy="406400"/>
          </a:xfrm>
          <a:prstGeom prst="ellipse">
            <a:avLst/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540500" y="3594100"/>
            <a:ext cx="406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086600" y="34544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小我情绪记录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086600" y="37465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4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记录情绪状态，影响场景动画氛围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254500"/>
            <a:ext cx="5207000" cy="762000"/>
          </a:xfrm>
          <a:prstGeom prst="roundRect">
            <a:avLst>
              <a:gd name="adj" fmla="val 20000"/>
            </a:avLst>
          </a:prstGeom>
          <a:solidFill>
            <a:srgbClr val="5BA3D9">
              <a:alpha val="15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540500" y="4419600"/>
            <a:ext cx="406400" cy="406400"/>
          </a:xfrm>
          <a:prstGeom prst="ellipse">
            <a:avLst/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40500" y="4483100"/>
            <a:ext cx="406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086600" y="43434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温和数值体系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086600" y="46355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504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幸福值、予己金币，无惩罚的温和反馈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5143500"/>
            <a:ext cx="5207000" cy="1270000"/>
          </a:xfrm>
          <a:prstGeom prst="roundRect">
            <a:avLst>
              <a:gd name="adj" fmla="val 12000"/>
            </a:avLst>
          </a:prstGeom>
          <a:solidFill>
            <a:srgbClr val="1E508C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604000" y="5308600"/>
            <a:ext cx="4699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D9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更多特色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04000" y="56515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像素物件交互，存钱罐跳转商店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生成《个人说明书》，持续更新自我认知</a:t>
            </a:r>
            <a:endParaRPr lang="en-US" sz="12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4DCBE">
                <a:alpha val="100000"/>
              </a:srgbClr>
            </a:gs>
            <a:gs pos="50000">
              <a:srgbClr val="DCF0E1">
                <a:alpha val="100000"/>
              </a:srgbClr>
            </a:gs>
            <a:gs pos="100000">
              <a:srgbClr val="FFFAF0">
                <a:alpha val="100000"/>
              </a:srgbClr>
            </a:gs>
          </a:gsLst>
          <a:lin ang="4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Tap2 遇见 · 内心森林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143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认识自己 · 治愈观察，帮你更懂自己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18914" r="18914"/>
          <a:stretch>
            <a:fillRect/>
          </a:stretch>
        </p:blipFill>
        <p:spPr>
          <a:xfrm>
            <a:off x="635000" y="1587500"/>
            <a:ext cx="5334000" cy="4826000"/>
          </a:xfrm>
          <a:prstGeom prst="roundRect">
            <a:avLst>
              <a:gd name="adj" fmla="val 3684"/>
            </a:avLst>
          </a:prstGeom>
          <a:noFill/>
          <a:ln w="38100" cap="flat" cmpd="sng">
            <a:solidFill>
              <a:srgbClr val="FFFFFF">
                <a:alpha val="6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350000" y="1587500"/>
            <a:ext cx="5207000" cy="1397000"/>
          </a:xfrm>
          <a:prstGeom prst="roundRect">
            <a:avLst>
              <a:gd name="adj" fmla="val 12727"/>
            </a:avLst>
          </a:prstGeom>
          <a:solidFill>
            <a:srgbClr val="3C8C50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场景设计理念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2225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DCF0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主页面为 2D 像素迷雾森林，不直接铺设表单和长列表，让用户在自然氛围中放松探索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3175000"/>
            <a:ext cx="5207000" cy="1524000"/>
          </a:xfrm>
          <a:prstGeom prst="roundRect">
            <a:avLst>
              <a:gd name="adj" fmla="val 116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6BCB7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04000" y="3403600"/>
            <a:ext cx="508000" cy="508000"/>
          </a:xfrm>
          <a:prstGeom prst="ellipse">
            <a:avLst/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34925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264400" y="33655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本心对语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264400" y="3746500"/>
            <a:ext cx="412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504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与屏幕中的自己对话，不定时传信。在迷雾森林中遇见另一个自己，通过真诚对话加深自我理解。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889500"/>
            <a:ext cx="5207000" cy="1524000"/>
          </a:xfrm>
          <a:prstGeom prst="roundRect">
            <a:avLst>
              <a:gd name="adj" fmla="val 116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FFD9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5118100"/>
            <a:ext cx="508000" cy="508000"/>
          </a:xfrm>
          <a:prstGeom prst="ellipse">
            <a:avLst/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52070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64400" y="50800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心灵树洞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64400" y="5461000"/>
            <a:ext cx="412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504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进行情绪深度记录，进入自我探索，AI 进行辅助引导。在安全的树洞中倾诉，获得温柔的回应与启发。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0C8">
                <a:alpha val="100000"/>
              </a:srgbClr>
            </a:gs>
            <a:gs pos="50000">
              <a:srgbClr val="FFFAE6">
                <a:alpha val="100000"/>
              </a:srgbClr>
            </a:gs>
            <a:gs pos="100000">
              <a:srgbClr val="DCF0E1">
                <a:alpha val="100000"/>
              </a:srgbClr>
            </a:gs>
          </a:gsLst>
          <a:lin ang="4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Tap3 生长 · 生命花园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6BCB7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143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成长自己 · 培育心知，解锁自我更多可能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18914" r="18914"/>
          <a:stretch>
            <a:fillRect/>
          </a:stretch>
        </p:blipFill>
        <p:spPr>
          <a:xfrm>
            <a:off x="635000" y="1587500"/>
            <a:ext cx="5334000" cy="4826000"/>
          </a:xfrm>
          <a:prstGeom prst="roundRect">
            <a:avLst>
              <a:gd name="adj" fmla="val 3684"/>
            </a:avLst>
          </a:prstGeom>
          <a:noFill/>
          <a:ln w="38100" cap="flat" cmpd="sng">
            <a:solidFill>
              <a:srgbClr val="FFFFFF">
                <a:alpha val="6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350000" y="1587500"/>
            <a:ext cx="5207000" cy="1270000"/>
          </a:xfrm>
          <a:prstGeom prst="roundRect">
            <a:avLst>
              <a:gd name="adj" fmla="val 14000"/>
            </a:avLst>
          </a:prstGeom>
          <a:solidFill>
            <a:srgbClr val="E6B428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场景设计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1844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FFFA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 2.5D 斜等轴测种田场景，MVP 资源不足时可先以 2D 斜排布模拟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3048000"/>
            <a:ext cx="5207000" cy="1651000"/>
          </a:xfrm>
          <a:prstGeom prst="roundRect">
            <a:avLst>
              <a:gd name="adj" fmla="val 10769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6BCB7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04000" y="3276600"/>
            <a:ext cx="558800" cy="558800"/>
          </a:xfrm>
          <a:prstGeom prst="ellipse">
            <a:avLst/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3378200"/>
            <a:ext cx="558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40600" y="32385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成长目标对应种子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340600" y="3619500"/>
            <a:ext cx="4064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504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用户的每提升一个技能，就会为植物提供"养料"。将抽象的成长目标转化为可视化的种子与植物，让每一次进步都有迹可循。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889500"/>
            <a:ext cx="5207000" cy="1524000"/>
          </a:xfrm>
          <a:prstGeom prst="roundRect">
            <a:avLst>
              <a:gd name="adj" fmla="val 11666"/>
            </a:avLst>
          </a:prstGeom>
          <a:solidFill>
            <a:srgbClr val="3C8C50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5118100"/>
            <a:ext cx="558800" cy="558800"/>
          </a:xfrm>
          <a:prstGeom prst="ellipse">
            <a:avLst/>
          </a:prstGeom>
          <a:solidFill>
            <a:srgbClr val="FFD9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5219700"/>
            <a:ext cx="558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护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40600" y="5080000"/>
            <a:ext cx="406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无惩罚的生长机制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40600" y="5461000"/>
            <a:ext cx="406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DCF0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植物永不枯萎，长期搁置只停止生长，不进行惩罚。降低成长类产品可能带来的内卷感与焦虑。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4A0D2">
                <a:alpha val="100000"/>
              </a:srgbClr>
            </a:gs>
            <a:gs pos="50000">
              <a:srgbClr val="DCC8E6">
                <a:alpha val="100000"/>
              </a:srgbClr>
            </a:gs>
            <a:gs pos="100000">
              <a:srgbClr val="FFF0DC">
                <a:alpha val="100000"/>
              </a:srgbClr>
            </a:gs>
          </a:gsLst>
          <a:lin ang="4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785A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5A3C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Tap4 星迹 · 个人宇宙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143000"/>
            <a:ext cx="5080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沉淀自己 · 回望成长轨迹，探索内在自我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rcRect l="18914" r="18914"/>
          <a:stretch>
            <a:fillRect/>
          </a:stretch>
        </p:blipFill>
        <p:spPr>
          <a:xfrm>
            <a:off x="635000" y="1587500"/>
            <a:ext cx="5334000" cy="4826000"/>
          </a:xfrm>
          <a:prstGeom prst="roundRect">
            <a:avLst>
              <a:gd name="adj" fmla="val 3684"/>
            </a:avLst>
          </a:prstGeom>
          <a:noFill/>
          <a:ln w="38100" cap="flat" cmpd="sng">
            <a:solidFill>
              <a:srgbClr val="FFFFFF">
                <a:alpha val="6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350000" y="1587500"/>
            <a:ext cx="5207000" cy="1143000"/>
          </a:xfrm>
          <a:prstGeom prst="roundRect">
            <a:avLst>
              <a:gd name="adj" fmla="val 15555"/>
            </a:avLst>
          </a:prstGeom>
          <a:solidFill>
            <a:srgbClr val="5A3C96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17526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场景设计理念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1336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200" b="0" i="0" u="none" strike="noStrike">
                <a:solidFill>
                  <a:srgbClr val="E6DC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采用低饱和晨昏流动天空，替代压抑的纯黑宇宙背景，营造温暖治愈的回忆空间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921000"/>
            <a:ext cx="5207000" cy="1714500"/>
          </a:xfrm>
          <a:prstGeom prst="roundRect">
            <a:avLst>
              <a:gd name="adj" fmla="val 1037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85A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04000" y="3149600"/>
            <a:ext cx="533400" cy="533400"/>
          </a:xfrm>
          <a:prstGeom prst="ellipse">
            <a:avLst/>
          </a:prstGeom>
          <a:solidFill>
            <a:srgbClr val="FFD9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604000" y="3251200"/>
            <a:ext cx="533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5A3C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02500" y="31115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A3C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星点记忆系统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302500" y="3492500"/>
            <a:ext cx="412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5046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沉淀来自首页、森林、花园和精神体验的重要事件。星点亮度体现事件重要程度，点击后可查看事件详情。支持成长时间轴、成长档案与用户手动创建星点。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0" y="4826000"/>
            <a:ext cx="5207000" cy="1587500"/>
          </a:xfrm>
          <a:prstGeom prst="roundRect">
            <a:avLst>
              <a:gd name="adj" fmla="val 11200"/>
            </a:avLst>
          </a:prstGeom>
          <a:solidFill>
            <a:srgbClr val="785AB4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604000" y="5054600"/>
            <a:ext cx="533400" cy="533400"/>
          </a:xfrm>
          <a:prstGeom prst="ellipse">
            <a:avLst/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604000" y="5156200"/>
            <a:ext cx="533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02500" y="50165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汇总与自我说明书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02500" y="5397500"/>
            <a:ext cx="412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E6DCF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汇总星点记录，持续更新《自我说明书》。让用户在回望成长轨迹的过程中，不断深化对自我的认知与理解。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AF0">
                <a:alpha val="100000"/>
              </a:srgbClr>
            </a:gs>
            <a:gs pos="100000">
              <a:srgbClr val="F0F8F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创新亮点（上）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143000"/>
            <a:ext cx="1092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五大差异化创新，构建治愈向内成长的独特产品体验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651000"/>
            <a:ext cx="3492500" cy="4826000"/>
          </a:xfrm>
          <a:prstGeom prst="roundRect">
            <a:avLst>
              <a:gd name="adj" fmla="val 5818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1651000"/>
            <a:ext cx="3492500" cy="889000"/>
          </a:xfrm>
          <a:prstGeom prst="roundRect">
            <a:avLst>
              <a:gd name="adj" fmla="val 22857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17780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D9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87500" y="18415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向内成长与轻游戏融合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9000" y="2794000"/>
            <a:ext cx="2984500" cy="349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将情绪觉察、自我照顾和成长行动与像素房间、森林、花园、星迹等游戏化场景结合。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让抽象的成长过程变得可视化，但避免竞技、排行和任务压迫，保持治愈陪伴的产品基调。</a:t>
            </a:r>
            <a:endParaRPr lang="en-US" sz="13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43400" y="1651000"/>
            <a:ext cx="3492500" cy="4826000"/>
          </a:xfrm>
          <a:prstGeom prst="roundRect">
            <a:avLst>
              <a:gd name="adj" fmla="val 5818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6BCB7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43400" y="1651000"/>
            <a:ext cx="3492500" cy="889000"/>
          </a:xfrm>
          <a:prstGeom prst="roundRect">
            <a:avLst>
              <a:gd name="adj" fmla="val 22857"/>
            </a:avLst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97400" y="17780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95900" y="18415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"小我"陪伴载体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97400" y="2794000"/>
            <a:ext cx="2984500" cy="349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"小我"不是宠物，也不是传统游戏角色，而是屏幕中的另一个自己。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用户的情绪、状态和行动会影响小我的行为与环境氛围，形成"记录—反馈—觉察"的陪伴关系。</a:t>
            </a:r>
            <a:endParaRPr lang="en-US" sz="13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51800" y="1651000"/>
            <a:ext cx="3492500" cy="4826000"/>
          </a:xfrm>
          <a:prstGeom prst="roundRect">
            <a:avLst>
              <a:gd name="adj" fmla="val 5818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FFD9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1651000"/>
            <a:ext cx="3492500" cy="889000"/>
          </a:xfrm>
          <a:prstGeom prst="roundRect">
            <a:avLst>
              <a:gd name="adj" fmla="val 22857"/>
            </a:avLst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05800" y="1778000"/>
            <a:ext cx="63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04300" y="1841500"/>
            <a:ext cx="2349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无惩罚成长机制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05800" y="2794000"/>
            <a:ext cx="2984500" cy="349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项目强调数值不下降、植物不枯萎、无连续打卡、无排行榜。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用户即使暂时停下，也不会因"落后"受到系统惩罚，降低成长类产品可能带来的内卷感。</a:t>
            </a:r>
            <a:endParaRPr lang="en-US" sz="13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8FC">
                <a:alpha val="100000"/>
              </a:srgbClr>
            </a:gs>
            <a:gs pos="100000">
              <a:srgbClr val="FFFA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创新亮点（下）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143000"/>
            <a:ext cx="1092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数据联动与正向激励，构建完整的成长生态闭环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651000"/>
            <a:ext cx="10922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1651000"/>
            <a:ext cx="1524000" cy="2286000"/>
          </a:xfrm>
          <a:prstGeom prst="roundRect">
            <a:avLst>
              <a:gd name="adj" fmla="val 13333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0320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D9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7940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跨场景成长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记忆闭环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476500" y="1905000"/>
            <a:ext cx="876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四大场景数据与体验联动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476500" y="2476500"/>
            <a:ext cx="876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房间、森林、花园和星迹不是独立功能页面，而是通过摆件、记忆光点、星点和《自我说明书》进行数据与体验联动。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形成持续积累的个人成长档案，让每一个场景的行为都能在其他场景获得反馈与沉淀。</a:t>
            </a:r>
            <a:endParaRPr lang="en-US" sz="14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" y="4191000"/>
            <a:ext cx="10922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FFD9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35000" y="4191000"/>
            <a:ext cx="1524000" cy="2286000"/>
          </a:xfrm>
          <a:prstGeom prst="roundRect">
            <a:avLst>
              <a:gd name="adj" fmla="val 13333"/>
            </a:avLst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4572000"/>
            <a:ext cx="127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关爱行为与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虚拟犒劳结合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2476500" y="4445000"/>
            <a:ext cx="876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予己金币与商店机制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476500" y="5016500"/>
            <a:ext cx="876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金币只能通过自我关照行为获得，并用于虚拟实体物件或后续精神体验。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强调"善待自己之后，也可以犒劳自己"，形成正向激励循环，让自我照顾变得更有仪式感。</a:t>
            </a:r>
            <a:endParaRPr lang="en-US" sz="14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5DC">
                <a:alpha val="100000"/>
              </a:srgbClr>
            </a:gs>
            <a:gs pos="100000">
              <a:srgbClr val="FFFAF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FFD93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团队分工与开发过程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BA3D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143000"/>
            <a:ext cx="1092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45A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本项目由两人协作完成，从概念构思到可演示Demo的全流程落地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587500"/>
            <a:ext cx="5334000" cy="4953000"/>
          </a:xfrm>
          <a:prstGeom prst="roundRect">
            <a:avLst>
              <a:gd name="adj" fmla="val 410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FFD93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35000" y="1587500"/>
            <a:ext cx="5334000" cy="698500"/>
          </a:xfrm>
          <a:prstGeom prst="roundRect">
            <a:avLst>
              <a:gd name="adj" fmla="val 29090"/>
            </a:avLst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1714500"/>
            <a:ext cx="457200" cy="4572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1790700"/>
            <a:ext cx="457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6B4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986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 设计成员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2540000"/>
            <a:ext cx="4699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8000"/>
              </a:lnSpc>
              <a:buClr>
                <a:srgbClr val="3C3228"/>
              </a:buClr>
              <a:buChar char="•"/>
              <a:defRPr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完成项目 UI 素材</a:t>
            </a:r>
            <a:endParaRPr lang="en-US" sz="1100"/>
          </a:p>
          <a:p>
            <a:pPr marL="165100" indent="-165100" algn="l">
              <a:lnSpc>
                <a:spcPct val="158000"/>
              </a:lnSpc>
              <a:buClr>
                <a:srgbClr val="3C3228"/>
              </a:buClr>
              <a:buChar char="•"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输出比赛宣传海报、易拉宝等视觉物料</a:t>
            </a:r>
            <a:endParaRPr lang="en-US" sz="13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3C3228"/>
              </a:buClr>
              <a:buChar char="•"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撰写整理完整项目文档</a:t>
            </a:r>
            <a:endParaRPr lang="en-US" sz="13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3C3228"/>
              </a:buClr>
              <a:buChar char="•"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梳理产品痛点、创新点、功能架构</a:t>
            </a:r>
            <a:endParaRPr lang="en-US" sz="13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8000"/>
              </a:lnSpc>
              <a:buClr>
                <a:srgbClr val="3C3228"/>
              </a:buClr>
              <a:buChar char="•"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完成参赛交付材料</a:t>
            </a:r>
            <a:endParaRPr lang="en-US" sz="13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1587500"/>
            <a:ext cx="5334000" cy="2349500"/>
          </a:xfrm>
          <a:prstGeom prst="roundRect">
            <a:avLst>
              <a:gd name="adj" fmla="val 8648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1587500"/>
            <a:ext cx="5334000" cy="635000"/>
          </a:xfrm>
          <a:prstGeom prst="roundRect">
            <a:avLst>
              <a:gd name="adj" fmla="val 32000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1689100"/>
            <a:ext cx="431800" cy="4318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77000" y="1752600"/>
            <a:ext cx="431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5BA3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DEV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048500" y="1714500"/>
            <a:ext cx="4254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开发成员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4130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65100" indent="-165100" algn="l">
              <a:lnSpc>
                <a:spcPct val="150000"/>
              </a:lnSpc>
              <a:buClr>
                <a:srgbClr val="3C3228"/>
              </a:buClr>
              <a:buChar char="•"/>
              <a:defRPr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承担前端页面搭建与后端服务开发</a:t>
            </a:r>
            <a:endParaRPr lang="en-US" sz="1100"/>
          </a:p>
          <a:p>
            <a:pPr marL="165100" indent="-165100" algn="l">
              <a:lnSpc>
                <a:spcPct val="150000"/>
              </a:lnSpc>
              <a:buClr>
                <a:srgbClr val="3C3228"/>
              </a:buClr>
              <a:buChar char="•"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完成接口对接调试</a:t>
            </a:r>
            <a:endParaRPr lang="en-US" sz="13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3C3228"/>
              </a:buClr>
              <a:buChar char="•"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实现产品核心业务功能</a:t>
            </a:r>
            <a:endParaRPr lang="en-US" sz="13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65100" indent="-165100" algn="l">
              <a:lnSpc>
                <a:spcPct val="150000"/>
              </a:lnSpc>
              <a:buClr>
                <a:srgbClr val="3C3228"/>
              </a:buClr>
              <a:buChar char="•"/>
            </a:pPr>
            <a:r>
              <a:rPr lang="en-US" sz="13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搭建可现场演示的项目 Demo</a:t>
            </a:r>
            <a:endParaRPr lang="en-US" sz="13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4191000"/>
            <a:ext cx="5334000" cy="2349500"/>
          </a:xfrm>
          <a:prstGeom prst="roundRect">
            <a:avLst>
              <a:gd name="adj" fmla="val 8648"/>
            </a:avLst>
          </a:prstGeom>
          <a:solidFill>
            <a:srgbClr val="1E508C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4381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D9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开发过程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826000"/>
            <a:ext cx="4826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项目由概念构思起步，完成从 0 到 1 的全流程落地。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开发阶段前后端多轮接口联调，同步调试兼容性与逻辑异常；设计侧根据开发反馈调整 UI 细节与物料。</a:t>
            </a:r>
            <a:endParaRPr lang="en-US" sz="12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产品与开发不断对齐预期，经多轮修改打磨，最终输出可正常演示的项目 Demo。</a:t>
            </a:r>
            <a:endParaRPr lang="en-US" sz="12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C8E6F5">
                <a:alpha val="100000"/>
              </a:srgbClr>
            </a:gs>
            <a:gs pos="100000">
              <a:srgbClr val="FFFAF0">
                <a:alpha val="100000"/>
              </a:srgbClr>
            </a:gs>
          </a:gsLst>
          <a:lin ang="4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后续计划 · 商业模式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206500"/>
            <a:ext cx="10922000" cy="698500"/>
          </a:xfrm>
          <a:prstGeom prst="roundRect">
            <a:avLst>
              <a:gd name="adj" fmla="val 21818"/>
            </a:avLst>
          </a:prstGeom>
          <a:solidFill>
            <a:srgbClr val="1E508C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3335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采用免费增值（Freemium）模式，基础功能永久免费，付费模块全部为增值服务，不设置付费墙阻碍核心体验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2095500"/>
            <a:ext cx="5334000" cy="2095500"/>
          </a:xfrm>
          <a:prstGeom prst="roundRect">
            <a:avLst>
              <a:gd name="adj" fmla="val 8484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286000"/>
            <a:ext cx="508000" cy="508000"/>
          </a:xfrm>
          <a:prstGeom prst="ellipse">
            <a:avLst/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23749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2311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 会员订阅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28956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 / 年订阅，解锁高阶功能：</a:t>
            </a:r>
            <a:endParaRPr lang="en-US" sz="1100"/>
          </a:p>
          <a:p>
            <a:pPr marL="152400" indent="-152400" algn="l">
              <a:lnSpc>
                <a:spcPct val="142000"/>
              </a:lnSpc>
              <a:buClr>
                <a:srgbClr val="3C3228"/>
              </a:buClr>
              <a:buChar char="•"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深度报告、更多额度 AI 对话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42000"/>
              </a:lnSpc>
              <a:buClr>
                <a:srgbClr val="3C3228"/>
              </a:buClr>
              <a:buChar char="•"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专属像素装扮、无广告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2095500"/>
            <a:ext cx="5334000" cy="2095500"/>
          </a:xfrm>
          <a:prstGeom prst="roundRect">
            <a:avLst>
              <a:gd name="adj" fmla="val 8484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6BCB7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2286000"/>
            <a:ext cx="508000" cy="508000"/>
          </a:xfrm>
          <a:prstGeom prst="ellipse">
            <a:avLst/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23749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0" y="2311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轻量内购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8956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一次性购买，仅修改视觉无数值加成：</a:t>
            </a:r>
            <a:endParaRPr lang="en-US" sz="1100"/>
          </a:p>
          <a:p>
            <a:pPr marL="152400" indent="-152400" algn="l">
              <a:lnSpc>
                <a:spcPct val="142000"/>
              </a:lnSpc>
              <a:buClr>
                <a:srgbClr val="3C3228"/>
              </a:buClr>
              <a:buChar char="•"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像素家具、外观、主题包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42000"/>
              </a:lnSpc>
              <a:buClr>
                <a:srgbClr val="3C3228"/>
              </a:buClr>
              <a:buChar char="•"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支持买断全部外观素材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" y="4381500"/>
            <a:ext cx="5334000" cy="2095500"/>
          </a:xfrm>
          <a:prstGeom prst="roundRect">
            <a:avLst>
              <a:gd name="adj" fmla="val 8484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FFD9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89000" y="4572000"/>
            <a:ext cx="508000" cy="508000"/>
          </a:xfrm>
          <a:prstGeom prst="ellipse">
            <a:avLst/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89000" y="46609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524000" y="4597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激励广告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9000" y="51816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无强制弹窗，用户主动观看换取：</a:t>
            </a:r>
            <a:endParaRPr lang="en-US" sz="1100"/>
          </a:p>
          <a:p>
            <a:pPr marL="152400" indent="-152400" algn="l">
              <a:lnSpc>
                <a:spcPct val="142000"/>
              </a:lnSpc>
              <a:buClr>
                <a:srgbClr val="3C3228"/>
              </a:buClr>
              <a:buChar char="•"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额度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52400" indent="-152400" algn="l">
              <a:lnSpc>
                <a:spcPct val="142000"/>
              </a:lnSpc>
              <a:buClr>
                <a:srgbClr val="3C3228"/>
              </a:buClr>
              <a:buChar char="•"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装饰碎片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4381500"/>
            <a:ext cx="5334000" cy="2095500"/>
          </a:xfrm>
          <a:prstGeom prst="roundRect">
            <a:avLst>
              <a:gd name="adj" fmla="val 8484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85A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77000" y="4572000"/>
            <a:ext cx="508000" cy="508000"/>
          </a:xfrm>
          <a:prstGeom prst="ellipse">
            <a:avLst/>
          </a:prstGeom>
          <a:solidFill>
            <a:srgbClr val="785A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4660900"/>
            <a:ext cx="50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0" y="45974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5A3C9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单次付费 + B 端拓展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51816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52400" indent="-152400" algn="l">
              <a:lnSpc>
                <a:spcPct val="142000"/>
              </a:lnSpc>
              <a:buClr>
                <a:srgbClr val="3C3228"/>
              </a:buClr>
              <a:buChar char="•"/>
              <a:defRPr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付费导出个人成长 PDF 档案</a:t>
            </a:r>
            <a:endParaRPr lang="en-US" sz="1100"/>
          </a:p>
          <a:p>
            <a:pPr marL="152400" indent="-152400" algn="l">
              <a:lnSpc>
                <a:spcPct val="142000"/>
              </a:lnSpc>
              <a:buClr>
                <a:srgbClr val="3C3228"/>
              </a:buClr>
              <a:buChar char="•"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 端校园合作：面向高校心理社团提供校园版授权，拓展产品落地场景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5DC">
                <a:alpha val="100000"/>
              </a:srgbClr>
            </a:gs>
            <a:gs pos="100000">
              <a:srgbClr val="F0F8FC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55600"/>
            <a:ext cx="7620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后续迭代 · IP 定制与 3D 打印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1251">
            <a:off x="635029" y="908050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5BA3D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079500"/>
            <a:ext cx="10922000" cy="2603500"/>
          </a:xfrm>
          <a:prstGeom prst="roundRect">
            <a:avLst>
              <a:gd name="adj" fmla="val 6829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35000" y="1079500"/>
            <a:ext cx="1651000" cy="2603500"/>
          </a:xfrm>
          <a:prstGeom prst="roundRect">
            <a:avLst>
              <a:gd name="adj" fmla="val 10769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25500" y="1397000"/>
            <a:ext cx="127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D9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迭代一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5500" y="19050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图片上传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定制专属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 形象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540000" y="1270000"/>
            <a:ext cx="876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照片生成专属像素 IP，强化"每个人独一无二"内核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540000" y="1714500"/>
            <a:ext cx="876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用户上传个人照片，系统识别面部特征、发型、穿搭风格，转化为 16bit 像素画风的专属小人形象，作为平行世界里的自我化身。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专属 IP 可用于房间、花园场景，替换系统默认角色，让虚拟小人与现实自我建立更强情感连接。</a:t>
            </a:r>
            <a:endParaRPr lang="en-US" sz="1200" b="0" i="0" u="none" strike="noStrike">
              <a:solidFill>
                <a:srgbClr val="3C322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540000" y="3048000"/>
            <a:ext cx="8763000" cy="508000"/>
          </a:xfrm>
          <a:prstGeom prst="roundRect">
            <a:avLst>
              <a:gd name="adj" fmla="val 20000"/>
            </a:avLst>
          </a:prstGeom>
          <a:solidFill>
            <a:srgbClr val="5BA3D9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730500" y="3136900"/>
            <a:ext cx="838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商业化：Pro 会员不限次数生成；普通用户有限免费次数，更多需会员 / 单次内购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3873500"/>
            <a:ext cx="10922000" cy="2667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E6B42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" y="3873500"/>
            <a:ext cx="1651000" cy="2667000"/>
          </a:xfrm>
          <a:prstGeom prst="roundRect">
            <a:avLst>
              <a:gd name="adj" fmla="val 10769"/>
            </a:avLst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25500" y="4191000"/>
            <a:ext cx="127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" y="46990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 实体化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3D 打印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专属形象</a:t>
            </a:r>
            <a:endParaRPr lang="en-US" sz="14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2540000" y="4064000"/>
            <a:ext cx="876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2D 像素角色自动转换为 3D 模型，从数字世界延伸到现实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540000" y="4508500"/>
            <a:ext cx="876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 2D 像素角色自动转换为可打印的 3D 模型文件（STL / 3MF 格式），用户可导出连接家用 3D 打印机，将专属小人打印为实体手办。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540000" y="5270500"/>
            <a:ext cx="4191000" cy="571500"/>
          </a:xfrm>
          <a:prstGeom prst="roundRect">
            <a:avLst>
              <a:gd name="adj" fmla="val 17777"/>
            </a:avLst>
          </a:prstGeom>
          <a:solidFill>
            <a:srgbClr val="E6B428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2730500" y="53594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5A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路径一：本地导出 3D 模型，自行家用打印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921500" y="5270500"/>
            <a:ext cx="4381500" cy="571500"/>
          </a:xfrm>
          <a:prstGeom prst="roundRect">
            <a:avLst>
              <a:gd name="adj" fmla="val 17777"/>
            </a:avLst>
          </a:prstGeom>
          <a:solidFill>
            <a:srgbClr val="E6B428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112000" y="5359400"/>
            <a:ext cx="400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785A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路径二：对接第三方代打印，线上下单获取人偶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2540000" y="5943600"/>
            <a:ext cx="8763000" cy="482600"/>
          </a:xfrm>
          <a:prstGeom prst="roundRect">
            <a:avLst>
              <a:gd name="adj" fmla="val 21052"/>
            </a:avLst>
          </a:prstGeom>
          <a:solidFill>
            <a:srgbClr val="3C8C50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2730500" y="6019800"/>
            <a:ext cx="838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商业化：Pro 会员可生成并下载 3D 模型；普通用户仅开放少量 2D IP 生成，不开放 3D 导出；模型仅供个人非商用自用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CC8E6">
                <a:alpha val="100000"/>
              </a:srgbClr>
            </a:gs>
            <a:gs pos="50000">
              <a:srgbClr val="C8E6F5">
                <a:alpha val="100000"/>
              </a:srgbClr>
            </a:gs>
            <a:gs pos="100000">
              <a:srgbClr val="FFF0C8">
                <a:alpha val="100000"/>
              </a:srgbClr>
            </a:gs>
          </a:gsLst>
          <a:lin ang="4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381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风险约束与结语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28647">
            <a:off x="635026" y="9842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0800" cap="flat" cmpd="sng">
            <a:solidFill>
              <a:srgbClr val="FFD93D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635000" y="1270000"/>
            <a:ext cx="10922000" cy="571500"/>
          </a:xfrm>
          <a:prstGeom prst="roundRect">
            <a:avLst>
              <a:gd name="adj" fmla="val 22222"/>
            </a:avLst>
          </a:prstGeom>
          <a:solidFill>
            <a:srgbClr val="1E508C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371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D9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风险与约束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1968500"/>
            <a:ext cx="3492500" cy="1968500"/>
          </a:xfrm>
          <a:prstGeom prst="roundRect">
            <a:avLst>
              <a:gd name="adj" fmla="val 903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5BA3D9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159000"/>
            <a:ext cx="482600" cy="482600"/>
          </a:xfrm>
          <a:prstGeom prst="ellipse">
            <a:avLst/>
          </a:prstGeom>
          <a:solidFill>
            <a:srgbClr val="5BA3D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89000" y="2247900"/>
            <a:ext cx="482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498600" y="22225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E50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隐私保护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9000" y="2768600"/>
            <a:ext cx="298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用户上传原始照片仅用于生成形象，服务器不永久存储原始人像素材，保障用户隐私安全。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43400" y="1968500"/>
            <a:ext cx="3492500" cy="1968500"/>
          </a:xfrm>
          <a:prstGeom prst="roundRect">
            <a:avLst>
              <a:gd name="adj" fmla="val 903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6BCB77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97400" y="2159000"/>
            <a:ext cx="482600" cy="482600"/>
          </a:xfrm>
          <a:prstGeom prst="ellipse">
            <a:avLst/>
          </a:prstGeom>
          <a:solidFill>
            <a:srgbClr val="6BCB7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97400" y="2247900"/>
            <a:ext cx="482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07000" y="22225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C8C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模型校验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97400" y="2768600"/>
            <a:ext cx="298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系统自动对 3D 模型做壁厚、水密性校验，保证文件适配主流 FDM 家用 3D 打印机，避免打印失败。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51800" y="1968500"/>
            <a:ext cx="3492500" cy="1968500"/>
          </a:xfrm>
          <a:prstGeom prst="roundRect">
            <a:avLst>
              <a:gd name="adj" fmla="val 903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FFD93D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305800" y="2159000"/>
            <a:ext cx="482600" cy="482600"/>
          </a:xfrm>
          <a:prstGeom prst="ellipse">
            <a:avLst/>
          </a:prstGeom>
          <a:solidFill>
            <a:srgbClr val="E6B42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05800" y="2247900"/>
            <a:ext cx="482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15400" y="22225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48C1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版权说明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05800" y="2768600"/>
            <a:ext cx="298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200" b="0" i="0" u="none" strike="noStrike">
                <a:solidFill>
                  <a:srgbClr val="3C322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生成的 3D 模型仅限用户个人自用，禁止商用二次售卖，规避知识产权风险。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" y="4191000"/>
            <a:ext cx="10922000" cy="2349500"/>
          </a:xfrm>
          <a:prstGeom prst="roundRect">
            <a:avLst>
              <a:gd name="adj" fmla="val 8648"/>
            </a:avLst>
          </a:prstGeom>
          <a:solidFill>
            <a:srgbClr val="1E508C">
              <a:alpha val="9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4508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在予己，遇见更好的自己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16000" y="52705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D9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每一次关爱，都是在遇见更好的自己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584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8DC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主创胡悠茗 · 主创江南 | 予己 App 项目介绍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6096000"/>
            <a:ext cx="381000" cy="381000"/>
          </a:xfrm>
          <a:prstGeom prst="ellipse">
            <a:avLst/>
          </a:prstGeom>
          <a:solidFill>
            <a:srgbClr val="6BCB7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4891</Words>
  <Application>WPS 演示</Application>
  <PresentationFormat/>
  <Paragraphs>551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江南</cp:lastModifiedBy>
  <cp:revision>1</cp:revision>
  <dcterms:created xsi:type="dcterms:W3CDTF">2026-08-29T19:58:22Z</dcterms:created>
  <dcterms:modified xsi:type="dcterms:W3CDTF">2026-08-29T19:58:22Z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{"Label":"1","ContentProducer":"001191110102MACQD9K64010000","ProduceID":"7679543691499670497","ReservedCode1":"","ContentPropagator":"","PropagateID":"","ReservedCode2":""}</vt:lpwstr>
  </property>
  <property fmtid="{D5CDD505-2E9C-101B-9397-08002B2CF9AE}" pid="3" name="ICV">
    <vt:lpwstr>0B7AD7A4FB954A81B7E291966052D787_12</vt:lpwstr>
  </property>
  <property fmtid="{D5CDD505-2E9C-101B-9397-08002B2CF9AE}" pid="4" name="KSOProductBuildVer">
    <vt:lpwstr>2052-12.1.0.28505</vt:lpwstr>
  </property>
</Properties>
</file>